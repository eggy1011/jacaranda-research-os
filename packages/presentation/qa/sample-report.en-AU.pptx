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Intelligent equipment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2.33</c:v>
                </c:pt>
                <c:pt idx="1">
                  <c:v>2.71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Automation components</c:v>
                </c:pt>
              </c:strCache>
            </c:strRef>
          </c:tx>
          <c:spPr>
            <a:solidFill>
              <a:srgbClr val="B7A3C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1.05</c:v>
                </c:pt>
                <c:pt idx="1">
                  <c:v>1.36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34234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0.38</c:v>
                </c:pt>
                <c:pt idx="1">
                  <c:v>0.45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6E687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>
              <a:solidFill>
                <a:srgbClr val="563F7C"/>
              </a:solidFill>
            </a:ln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2.89</c:v>
                </c:pt>
                <c:pt idx="1">
                  <c:v>3.26</c:v>
                </c:pt>
                <c:pt idx="2">
                  <c:v>3.76</c:v>
                </c:pt>
                <c:pt idx="3">
                  <c:v>4.52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</c:v>
                </c:pt>
              </c:strCache>
            </c:strRef>
          </c:tx>
          <c:spPr>
            <a:ln w="28575">
              <a:solidFill>
                <a:srgbClr val="B7A3CB"/>
              </a:solidFill>
            </a:ln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0.28</c:v>
                </c:pt>
                <c:pt idx="1">
                  <c:v>0.34</c:v>
                </c:pt>
                <c:pt idx="2">
                  <c:v>0.41</c:v>
                </c:pt>
                <c:pt idx="3">
                  <c:v>0.51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E687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FY2025</c:v>
                </c:pt>
                <c:pt idx="1">
                  <c:v>Volume</c:v>
                </c:pt>
                <c:pt idx="2">
                  <c:v>Price</c:v>
                </c:pt>
                <c:pt idx="3">
                  <c:v>Churn</c:v>
                </c:pt>
                <c:pt idx="4">
                  <c:v>FY2026E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4.52</c:v>
                </c:pt>
                <c:pt idx="2">
                  <c:v>4.97</c:v>
                </c:pt>
                <c:pt idx="3">
                  <c:v>5.029999999999999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总额/Total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FY2025</c:v>
                </c:pt>
                <c:pt idx="1">
                  <c:v>Volume</c:v>
                </c:pt>
                <c:pt idx="2">
                  <c:v>Price</c:v>
                </c:pt>
                <c:pt idx="3">
                  <c:v>Churn</c:v>
                </c:pt>
                <c:pt idx="4">
                  <c:v>FY2026E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4.52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5.03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增加/Increase</c:v>
                </c:pt>
              </c:strCache>
            </c:strRef>
          </c:tx>
          <c:spPr>
            <a:solidFill>
              <a:srgbClr val="1E7F4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FY2025</c:v>
                </c:pt>
                <c:pt idx="1">
                  <c:v>Volume</c:v>
                </c:pt>
                <c:pt idx="2">
                  <c:v>Price</c:v>
                </c:pt>
                <c:pt idx="3">
                  <c:v>Churn</c:v>
                </c:pt>
                <c:pt idx="4">
                  <c:v>FY2026E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0.45</c:v>
                </c:pt>
                <c:pt idx="2">
                  <c:v>0.18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减少/Decrease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solidFill>
                      <a:srgbClr val="25232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FY2025</c:v>
                </c:pt>
                <c:pt idx="1">
                  <c:v>Volume</c:v>
                </c:pt>
                <c:pt idx="2">
                  <c:v>Price</c:v>
                </c:pt>
                <c:pt idx="3">
                  <c:v>Churn</c:v>
                </c:pt>
                <c:pt idx="4">
                  <c:v>FY2026E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0.12</c:v>
                </c:pt>
                <c:pt idx="4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Discounted cash flow</c:v>
                </c:pt>
                <c:pt idx="1">
                  <c:v>Peer PE multiples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29.5</c:v>
                </c:pt>
                <c:pt idx="1">
                  <c:v>27.0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563F7C"/>
            </a:solidFill>
            <a:ln>
              <a:noFill/>
            </a:ln>
          </c:spPr>
          <c:dLbls>
            <c:numFmt formatCode="#,##0.0" sourceLinked="0"/>
            <c:txPr>
              <a:bodyPr/>
              <a:lstStyle/>
              <a:p>
                <a:pPr>
                  <a:defRPr sz="900">
                    <a:solidFill>
                      <a:srgbClr val="25232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Discounted cash flow</c:v>
                </c:pt>
                <c:pt idx="1">
                  <c:v>Peer PE multiples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8.5</c:v>
                </c:pt>
                <c:pt idx="1">
                  <c:v>8.5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"/>
          <c:min val="24.0"/>
        </c:scaling>
        <c:delete val="0"/>
        <c:axPos val="b"/>
        <c:majorGridlines>
          <c:spPr>
            <a:ln w="6350">
              <a:solidFill>
                <a:srgbClr val="E4DFEC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DFEC"/>
            </a:solidFill>
          </a:ln>
        </c:spPr>
        <c:txPr>
          <a:bodyPr/>
          <a:lstStyle/>
          <a:p>
            <a:pPr>
              <a:defRPr sz="900">
                <a:solidFill>
                  <a:srgbClr val="6E687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53666" y="502920"/>
            <a:ext cx="2484362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4il21ky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706" y="822960"/>
            <a:ext cx="1841269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3657600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Georgia"/>
                <a:ea typeface="Source Han Serif SC"/>
              </a:rPr>
              <a:t>Example Intelligent Manufacturing (600XXX) equity research</a:t>
            </a:r>
          </a:p>
          <a:p>
            <a:pPr algn="ctr"/>
            <a:r>
              <a:rPr sz="1800" b="0">
                <a:solidFill>
                  <a:srgbClr val="B7A3CB"/>
                </a:solidFill>
                <a:latin typeface="Calibri"/>
                <a:ea typeface="Source Han Sans SC"/>
              </a:rPr>
              <a:t>An automation-equipment supplier in the domestic-substitution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  <a:ea typeface="Source Han Sans SC"/>
              </a:rPr>
              <a:t>Example Intelligent Manufacturing Co., Ltd. · 600XXX · fictional example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Source Han Sans SC"/>
              </a:rPr>
              <a:t>Rating: Accumulate · Target price: CNY 34.00</a:t>
            </a:r>
          </a:p>
          <a:p>
            <a:pPr algn="ctr"/>
            <a:r>
              <a:rPr sz="1000" b="0">
                <a:solidFill>
                  <a:srgbClr val="B7A3CB"/>
                </a:solidFill>
                <a:latin typeface="Calibri"/>
                <a:ea typeface="Source Han Sans SC"/>
              </a:rPr>
              <a:t>17 Jul 2026   ·   Full English edition   ·   Jacaranda Stock Market Society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Investment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2   ·   Data as of 2026-07-10   ·   Source SRC-001, SRC-002, SRC-004   ·   For educational research only; not investment advice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Revenue (CNY bn)</a:t>
            </a:r>
          </a:p>
          <a:p>
            <a:pPr algn="l"/>
            <a:r>
              <a:rPr sz="2600" b="1">
                <a:solidFill>
                  <a:srgbClr val="34234F"/>
                </a:solidFill>
                <a:latin typeface="Calibri"/>
                <a:ea typeface="Source Han Sans SC"/>
              </a:rPr>
              <a:t>4.52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FY2025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9111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Revenue growth</a:t>
            </a:r>
          </a:p>
          <a:p>
            <a:pPr algn="l"/>
            <a:r>
              <a:rPr sz="2600" b="1">
                <a:solidFill>
                  <a:srgbClr val="1E7F4F"/>
                </a:solidFill>
                <a:latin typeface="Calibri"/>
                <a:ea typeface="Source Han Sans SC"/>
              </a:rPr>
              <a:t>20.2%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FY2025, YoY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2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Current price (CNY)</a:t>
            </a:r>
          </a:p>
          <a:p>
            <a:pPr algn="l"/>
            <a:r>
              <a:rPr sz="2600" b="1">
                <a:solidFill>
                  <a:srgbClr val="34234F"/>
                </a:solidFill>
                <a:latin typeface="Calibri"/>
                <a:ea typeface="Source Han Sans SC"/>
              </a:rPr>
              <a:t>28.40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Close, 10 Jul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7173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Target price (CNY)</a:t>
            </a:r>
          </a:p>
          <a:p>
            <a:pPr algn="l"/>
            <a:r>
              <a:rPr sz="2600" b="1">
                <a:solidFill>
                  <a:srgbClr val="34234F"/>
                </a:solidFill>
                <a:latin typeface="Calibri"/>
                <a:ea typeface="Source Han Sans SC"/>
              </a:rPr>
              <a:t>34.00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Base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85953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Policy support and strong revenue growth position the company to keep gaining domestic share.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[Inference]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We view the company as a key beneficiary of domestic substitution and assign an Accumulate rating.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[Opinion]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Counterargument: growth could fall well short of forecast if downstream capex slows.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[Inference]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Company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3   ·   Data as of 2026-07-10   ·   Source SRC-001   ·   For educational research only; not investment advice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Revenue (CNY bn)</a:t>
            </a:r>
          </a:p>
          <a:p>
            <a:pPr algn="l"/>
            <a:r>
              <a:rPr sz="2600" b="1">
                <a:solidFill>
                  <a:srgbClr val="34234F"/>
                </a:solidFill>
                <a:latin typeface="Calibri"/>
                <a:ea typeface="Source Han Sans SC"/>
              </a:rPr>
              <a:t>4.52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FY2025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9111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Net profit (CNY bn)</a:t>
            </a:r>
          </a:p>
          <a:p>
            <a:pPr algn="l"/>
            <a:r>
              <a:rPr sz="2600" b="1">
                <a:solidFill>
                  <a:srgbClr val="34234F"/>
                </a:solidFill>
                <a:latin typeface="Calibri"/>
                <a:ea typeface="Source Han Sans SC"/>
              </a:rPr>
              <a:t>0.51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FY2025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2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Net margin</a:t>
            </a:r>
          </a:p>
          <a:p>
            <a:pPr algn="l"/>
            <a:r>
              <a:rPr sz="2600" b="1">
                <a:solidFill>
                  <a:srgbClr val="34234F"/>
                </a:solidFill>
                <a:latin typeface="Calibri"/>
                <a:ea typeface="Source Han Sans SC"/>
              </a:rPr>
              <a:t>11.3%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FY2025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7173" y="1143000"/>
            <a:ext cx="2604439" cy="1170432"/>
          </a:xfrm>
          <a:prstGeom prst="roundRect">
            <a:avLst>
              <a:gd name="adj" fmla="val 8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/>
            <a:r>
              <a:rPr sz="1100" b="1">
                <a:solidFill>
                  <a:srgbClr val="563F7C"/>
                </a:solidFill>
                <a:latin typeface="Calibri"/>
                <a:ea typeface="Source Han Sans SC"/>
              </a:rPr>
              <a:t>Largest segment (CNY bn)</a:t>
            </a:r>
          </a:p>
          <a:p>
            <a:pPr algn="l"/>
            <a:r>
              <a:rPr sz="2600" b="1">
                <a:solidFill>
                  <a:srgbClr val="34234F"/>
                </a:solidFill>
                <a:latin typeface="Calibri"/>
                <a:ea typeface="Source Han Sans SC"/>
              </a:rPr>
              <a:t>2.71</a:t>
            </a:r>
          </a:p>
          <a:p>
            <a:pPr algn="l"/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Intelligent equipment, FY2025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64617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Revenue and profit both grew at double-digit rates, with revenue at a record high.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[Fact]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The company operates midstream in automation-equipment manufacturing.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[Fact]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Company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4   ·   Data as of 2026-07-10   ·   Source SRC-001   ·   For educational research only; not investment advice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0911535" cy="18288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91056"/>
            <a:ext cx="128016" cy="128016"/>
          </a:xfrm>
          <a:prstGeom prst="ellipse">
            <a:avLst/>
          </a:prstGeom>
          <a:solidFill>
            <a:srgbClr val="34234F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Founded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Focused on industrial automation equipment</a:t>
            </a:r>
          </a:p>
        </p:txBody>
      </p:sp>
      <p:sp>
        <p:nvSpPr>
          <p:cNvPr id="11" name="Oval 10"/>
          <p:cNvSpPr/>
          <p:nvPr/>
        </p:nvSpPr>
        <p:spPr>
          <a:xfrm>
            <a:off x="3459403" y="1591056"/>
            <a:ext cx="128016" cy="128016"/>
          </a:xfrm>
          <a:prstGeom prst="ellipse">
            <a:avLst/>
          </a:prstGeom>
          <a:solidFill>
            <a:srgbClr val="34234F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6523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523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Listed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Listed on a fictional exchange</a:t>
            </a:r>
          </a:p>
        </p:txBody>
      </p:sp>
      <p:sp>
        <p:nvSpPr>
          <p:cNvPr id="14" name="Oval 13"/>
          <p:cNvSpPr/>
          <p:nvPr/>
        </p:nvSpPr>
        <p:spPr>
          <a:xfrm>
            <a:off x="6187286" y="1591056"/>
            <a:ext cx="128016" cy="128016"/>
          </a:xfrm>
          <a:prstGeom prst="ellipse">
            <a:avLst/>
          </a:prstGeom>
          <a:solidFill>
            <a:srgbClr val="34234F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4406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4406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Overseas base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Opened an overseas manufacturing base</a:t>
            </a:r>
          </a:p>
        </p:txBody>
      </p:sp>
      <p:sp>
        <p:nvSpPr>
          <p:cNvPr id="17" name="Oval 16"/>
          <p:cNvSpPr/>
          <p:nvPr/>
        </p:nvSpPr>
        <p:spPr>
          <a:xfrm>
            <a:off x="8915169" y="1591056"/>
            <a:ext cx="128016" cy="128016"/>
          </a:xfrm>
          <a:prstGeom prst="ellipse">
            <a:avLst/>
          </a:prstGeom>
          <a:solidFill>
            <a:srgbClr val="B7A3CB"/>
          </a:solidFill>
          <a:ln w="9525">
            <a:solidFill>
              <a:srgbClr val="342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289" y="1143000"/>
            <a:ext cx="2636443" cy="32004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1">
                <a:solidFill>
                  <a:srgbClr val="563F7C"/>
                </a:solidFill>
                <a:latin typeface="Calibri"/>
                <a:ea typeface="Source Han Sans SC"/>
              </a:rPr>
              <a:t>2026-11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289" y="1810512"/>
            <a:ext cx="2636443" cy="1371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1">
                <a:solidFill>
                  <a:srgbClr val="34234F"/>
                </a:solidFill>
                <a:latin typeface="Calibri"/>
                <a:ea typeface="Source Han Sans SC"/>
              </a:rPr>
              <a:t>New control system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Next-generation control system planned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Value-chain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5   ·   Data as of 2026-07-10   ·   Source SRC-001, SRC-003   ·   For educational research only; not investment advice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1143000"/>
            <a:ext cx="3466490" cy="1417320"/>
          </a:xfrm>
          <a:prstGeom prst="chevron">
            <a:avLst>
              <a:gd name="adj" fmla="val 18000"/>
            </a:avLst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Upstream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Core components and materials</a:t>
            </a:r>
          </a:p>
        </p:txBody>
      </p:sp>
      <p:sp>
        <p:nvSpPr>
          <p:cNvPr id="8" name="Chevron 7"/>
          <p:cNvSpPr/>
          <p:nvPr/>
        </p:nvSpPr>
        <p:spPr>
          <a:xfrm>
            <a:off x="4362602" y="1143000"/>
            <a:ext cx="3466490" cy="1417320"/>
          </a:xfrm>
          <a:prstGeom prst="chevron">
            <a:avLst>
              <a:gd name="adj" fmla="val 18000"/>
            </a:avLst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Source Han Sans SC"/>
              </a:rPr>
              <a:t>Midstream (company)</a:t>
            </a:r>
          </a:p>
          <a:p>
            <a:r>
              <a:rPr sz="1000" b="0">
                <a:solidFill>
                  <a:srgbClr val="FFFFFF"/>
                </a:solidFill>
                <a:latin typeface="Calibri"/>
                <a:ea typeface="Source Han Sans SC"/>
              </a:rPr>
              <a:t>Automation-equipment manufacturing</a:t>
            </a:r>
          </a:p>
        </p:txBody>
      </p:sp>
      <p:sp>
        <p:nvSpPr>
          <p:cNvPr id="9" name="Chevron 8"/>
          <p:cNvSpPr/>
          <p:nvPr/>
        </p:nvSpPr>
        <p:spPr>
          <a:xfrm>
            <a:off x="8085124" y="1143000"/>
            <a:ext cx="3466490" cy="1417320"/>
          </a:xfrm>
          <a:prstGeom prst="chevron">
            <a:avLst>
              <a:gd name="adj" fmla="val 18000"/>
            </a:avLst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Downstream</a:t>
            </a:r>
          </a:p>
          <a:p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Manufacturing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0911535" cy="64617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Industry guidance supports domestic substitution in intelligent manufacturing equipment.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[Fact]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If implemented, the policy could improve midstream order conditions.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[Inference]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Segment mix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6   ·   Data as of 2026-07-10   ·   Source SRC-001   ·   For educational research only; not investment advice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Segment revenue (FY2024-FY2025) · CNY bn · Source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328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Intelligent equipment is the largest segment; services remain a small share.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[Fact]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7   ·   Data as of 2026-07-10   ·   Source SRC-005   ·   For educational research only; not investment advice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1525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A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400" b="1">
                <a:solidFill>
                  <a:srgbClr val="563F7C"/>
                </a:solidFill>
                <a:latin typeface="Georgia"/>
                <a:ea typeface="Source Han Serif SC"/>
              </a:rPr>
              <a:t>Company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PE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18.2x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Revenue growth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20.2%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5232A"/>
                </a:solidFill>
                <a:latin typeface="Calibri"/>
                <a:ea typeface="Source Han Sans SC"/>
              </a:rPr>
              <a:t>– Faster growth than peers, with double-digit revenue growth.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143000"/>
            <a:ext cx="351525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A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400" b="1">
                <a:solidFill>
                  <a:srgbClr val="563F7C"/>
                </a:solidFill>
                <a:latin typeface="Georgia"/>
                <a:ea typeface="Source Han Serif SC"/>
              </a:rPr>
              <a:t>Peer A (fictional)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PE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22.5x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Revenue growth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12.5%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5232A"/>
                </a:solidFill>
                <a:latin typeface="Calibri"/>
                <a:ea typeface="Source Han Sans SC"/>
              </a:rPr>
              <a:t>– Trades at a premium multiple.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143000"/>
            <a:ext cx="351525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A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/>
            <a:r>
              <a:rPr sz="1400" b="1">
                <a:solidFill>
                  <a:srgbClr val="563F7C"/>
                </a:solidFill>
                <a:latin typeface="Georgia"/>
                <a:ea typeface="Source Han Serif SC"/>
              </a:rPr>
              <a:t>Peer B (fictional)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PE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15.8x</a:t>
            </a:r>
          </a:p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Revenue growth  </a:t>
            </a:r>
            <a:r>
              <a:rPr sz="1300" b="1">
                <a:solidFill>
                  <a:srgbClr val="34234F"/>
                </a:solidFill>
                <a:latin typeface="Calibri"/>
                <a:ea typeface="Source Han Sans SC"/>
              </a:rPr>
              <a:t>8.9%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25232A"/>
                </a:solidFill>
                <a:latin typeface="Calibri"/>
                <a:ea typeface="Source Han Sans SC"/>
              </a:rPr>
              <a:t>– Slower growth and a lower multiple than the company.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Historical financials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8   ·   Data as of 2026-07-10   ·   Source SRC-001   ·   For educational research only; not investment advice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91153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8768"/>
                <a:gridCol w="2073191"/>
                <a:gridCol w="2073191"/>
                <a:gridCol w="2073191"/>
                <a:gridCol w="207319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Metric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FY2022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FY2023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FY2024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FY2025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Revenue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3.26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3.76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4.52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Net profit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0.28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0.34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0.41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0.51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Revenue growth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E7F4F"/>
                          </a:solidFill>
                          <a:latin typeface="Calibri"/>
                          <a:ea typeface="Source Han Sans SC"/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Net margin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N/A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N/A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E6879"/>
                          </a:solidFill>
                          <a:latin typeface="Calibri"/>
                          <a:ea typeface="Source Han Sans SC"/>
                        </a:rPr>
                        <a:t>N/A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11.3%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42616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CNY bn · Source SRC-001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Revenue and profit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9   ·   Data as of 2026-07-10   ·   Source SRC-001   ·   For educational research only; not investment advice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Revenue and net profit (FY2022-FY2025) · CNY bn · Source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328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Revenue and profit have grown every year, with growth accelerating in FY2025.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[Fact]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FY2026E revenue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10   ·   Data as of 2026-07-10   ·   Source SRC-001   ·   For educational research only; not investment advice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10911535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FY2026E revenue bridge · CNY bn · purple=total, green=increase, red=decrease · Source SRC-001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11535" cy="4328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Volume expansion drives forecast growth, with a positive but modest price contribution.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[Inference]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Comparable companies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11   ·   Data as of 2026-07-10   ·   Source SRC-005   ·   For educational research only; not investment advice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911533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8768"/>
                <a:gridCol w="2764255"/>
                <a:gridCol w="2764255"/>
                <a:gridCol w="2764255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Metric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Company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Peer A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Peer B</a:t>
                      </a:r>
                    </a:p>
                  </a:txBody>
                  <a:tcPr anchor="ctr">
                    <a:solidFill>
                      <a:srgbClr val="563F7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PE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18.2x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22.5x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15.8x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PS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2.1x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2.8x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1.6x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Revenue growth</a:t>
                      </a:r>
                    </a:p>
                  </a:txBody>
                  <a:tcPr>
                    <a:solidFill>
                      <a:srgbClr val="7B63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350008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Multiples are fictional · Source SRC-005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24328"/>
            <a:ext cx="10911535" cy="43281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5232A"/>
                </a:solidFill>
                <a:latin typeface="Calibri"/>
                <a:ea typeface="Source Han Sans SC"/>
              </a:rPr>
              <a:t>– The company trades below Peer A and above Peer B; the growth premium is not fully priced.</a:t>
            </a:r>
            <a:r>
              <a:rPr sz="900" b="1">
                <a:solidFill>
                  <a:srgbClr val="B7A3CB"/>
                </a:solidFill>
                <a:latin typeface="Calibri"/>
                <a:ea typeface="Source Han Sans SC"/>
              </a:rPr>
              <a:t>  [Inference]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Valuation range and target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12   ·   Data as of 2026-07-10   ·   Source SRC-001, SRC-005   ·   For educational research only; not investment advice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143000"/>
          <a:ext cx="6765151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79551" y="1143000"/>
            <a:ext cx="3872064" cy="31089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100" b="0">
                <a:solidFill>
                  <a:srgbClr val="6E6879"/>
                </a:solidFill>
                <a:latin typeface="Calibri"/>
                <a:ea typeface="Source Han Sans SC"/>
              </a:rPr>
              <a:t>Current price  </a:t>
            </a:r>
            <a:r>
              <a:rPr sz="1600" b="1">
                <a:solidFill>
                  <a:srgbClr val="34234F"/>
                </a:solidFill>
                <a:latin typeface="Calibri"/>
                <a:ea typeface="Source Han Sans SC"/>
              </a:rPr>
              <a:t>28.40</a:t>
            </a:r>
          </a:p>
          <a:p>
            <a:r>
              <a:rPr sz="1100" b="0">
                <a:solidFill>
                  <a:srgbClr val="6E6879"/>
                </a:solidFill>
                <a:latin typeface="Calibri"/>
                <a:ea typeface="Source Han Sans SC"/>
              </a:rPr>
              <a:t>Target price  </a:t>
            </a:r>
            <a:r>
              <a:rPr sz="1600" b="1">
                <a:solidFill>
                  <a:srgbClr val="563F7C"/>
                </a:solidFill>
                <a:latin typeface="Calibri"/>
                <a:ea typeface="Source Han Sans SC"/>
              </a:rPr>
              <a:t>34.00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– 9.5% WACC, reflecting sector equity costs and low leverage.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25232A"/>
                </a:solidFill>
                <a:latin typeface="Calibri"/>
                <a:ea typeface="Source Han Sans SC"/>
              </a:rPr>
              <a:t>– Base case: 15% revenue CAGR over 2026-2028.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70248"/>
            <a:ext cx="10911535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Valuation range · Source SRC-001, SRC-005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Catalysts and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13   ·   Data as of 2026-07-10   ·   Source SRC-001, SRC-003, SRC-004   ·   For educational research only; not investment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69190" cy="40233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500" b="1">
                <a:solidFill>
                  <a:srgbClr val="1E7F4F"/>
                </a:solidFill>
                <a:latin typeface="Georgia"/>
                <a:ea typeface="Source Han Serif SC"/>
              </a:rPr>
              <a:t>Catalysts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– Next-generation control system launch</a:t>
            </a:r>
            <a:r>
              <a:rPr sz="900" b="1">
                <a:solidFill>
                  <a:srgbClr val="1E7F4F"/>
                </a:solidFill>
                <a:latin typeface="Calibri"/>
                <a:ea typeface="Source Han Sans SC"/>
              </a:rPr>
              <a:t>  [3-12m]</a:t>
            </a:r>
          </a:p>
          <a:p>
            <a:r>
              <a:rPr sz="1050" b="0">
                <a:solidFill>
                  <a:srgbClr val="25232A"/>
                </a:solidFill>
                <a:latin typeface="Calibri"/>
                <a:ea typeface="Source Han Sans SC"/>
              </a:rPr>
              <a:t>   Planned for Q4; an on-time launch could drive new 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5030" y="1143000"/>
            <a:ext cx="3269190" cy="40233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500" b="1">
                <a:solidFill>
                  <a:srgbClr val="C0392B"/>
                </a:solidFill>
                <a:latin typeface="Georgia"/>
                <a:ea typeface="Source Han Serif SC"/>
              </a:rPr>
              <a:t>Risks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– Slowing downstream capex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[Severity High · Likelihood Med]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– Price competition compressing margins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[Severity Med · Likelihood High]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– Industrial policy shifts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[Severity Med · Likelihood Low]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4234F"/>
                </a:solidFill>
                <a:latin typeface="Calibri"/>
                <a:ea typeface="Source Han Sans SC"/>
              </a:rPr>
              <a:t>– High customer concentration</a:t>
            </a:r>
            <a:r>
              <a:rPr sz="900" b="1">
                <a:solidFill>
                  <a:srgbClr val="C0392B"/>
                </a:solidFill>
                <a:latin typeface="Calibri"/>
                <a:ea typeface="Source Han Sans SC"/>
              </a:rPr>
              <a:t>  [Severity Med · Likelihood Med]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980" y="1527048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23858" y="1527048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37736" y="1527048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980" y="2740926"/>
            <a:ext cx="1186446" cy="1186446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23858" y="2740926"/>
            <a:ext cx="1186446" cy="1186446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37736" y="2740926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980" y="3954804"/>
            <a:ext cx="1186446" cy="1186446"/>
          </a:xfrm>
          <a:prstGeom prst="rect">
            <a:avLst/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23858" y="3954804"/>
            <a:ext cx="1186446" cy="1186446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37736" y="3954804"/>
            <a:ext cx="1186446" cy="1186446"/>
          </a:xfrm>
          <a:prstGeom prst="rect">
            <a:avLst/>
          </a:prstGeom>
          <a:solidFill>
            <a:srgbClr val="7B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11925" y="2015115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R1</a:t>
            </a:r>
          </a:p>
        </p:txBody>
      </p:sp>
      <p:sp>
        <p:nvSpPr>
          <p:cNvPr id="19" name="Oval 18"/>
          <p:cNvSpPr/>
          <p:nvPr/>
        </p:nvSpPr>
        <p:spPr>
          <a:xfrm>
            <a:off x="10825803" y="3228993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R2</a:t>
            </a:r>
          </a:p>
        </p:txBody>
      </p:sp>
      <p:sp>
        <p:nvSpPr>
          <p:cNvPr id="20" name="Oval 19"/>
          <p:cNvSpPr/>
          <p:nvPr/>
        </p:nvSpPr>
        <p:spPr>
          <a:xfrm>
            <a:off x="8398047" y="3228993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R3</a:t>
            </a:r>
          </a:p>
        </p:txBody>
      </p:sp>
      <p:sp>
        <p:nvSpPr>
          <p:cNvPr id="21" name="Oval 20"/>
          <p:cNvSpPr/>
          <p:nvPr/>
        </p:nvSpPr>
        <p:spPr>
          <a:xfrm>
            <a:off x="9611925" y="3228993"/>
            <a:ext cx="237744" cy="237744"/>
          </a:xfrm>
          <a:prstGeom prst="ellipse">
            <a:avLst/>
          </a:prstGeom>
          <a:solidFill>
            <a:srgbClr val="3423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Source Han Sans SC"/>
              </a:rPr>
              <a:t>R4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980" y="5196114"/>
            <a:ext cx="3641634" cy="2286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Likelihood → (vertical: severity ↑)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474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234F"/>
                </a:solidFill>
                <a:latin typeface="Georgia"/>
                <a:ea typeface="Source Han Serif SC"/>
              </a:rPr>
              <a:t>Conclusion, sources and disclaimer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11535" cy="16459"/>
          </a:xfrm>
          <a:prstGeom prst="rect">
            <a:avLst/>
          </a:prstGeom>
          <a:solidFill>
            <a:srgbClr val="563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2okzi3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802" y="292608"/>
            <a:ext cx="374073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419088"/>
            <a:ext cx="10911535" cy="7315"/>
          </a:xfrm>
          <a:prstGeom prst="rect">
            <a:avLst/>
          </a:prstGeom>
          <a:solidFill>
            <a:srgbClr val="B7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6480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6879"/>
                </a:solidFill>
                <a:latin typeface="Calibri"/>
                <a:ea typeface="Source Han Sans SC"/>
              </a:rPr>
              <a:t>Page 14   ·   Data as of 2026-07-10   ·   Source SRC-001, SRC-002, SRC-003, SRC-004, SRC-005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10911535" cy="682752"/>
          </a:xfrm>
          <a:prstGeom prst="roundRect">
            <a:avLst>
              <a:gd name="adj" fmla="val 5000"/>
            </a:avLst>
          </a:prstGeom>
          <a:solidFill>
            <a:srgbClr val="E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400" b="1">
                <a:solidFill>
                  <a:srgbClr val="34234F"/>
                </a:solidFill>
                <a:latin typeface="Calibri"/>
                <a:ea typeface="Source Han Sans SC"/>
              </a:rPr>
              <a:t>We assign an Accumulate rating with a CNY 34.00 target price. Counterevidence: industry capacity is expanding quickly, and growth could fall well short of forecast if downstream capex slows.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53768"/>
          <a:ext cx="10911532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1153"/>
                <a:gridCol w="4582844"/>
                <a:gridCol w="2400537"/>
                <a:gridCol w="1418499"/>
                <a:gridCol w="1418499"/>
              </a:tblGrid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ID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Title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Publisher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Published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  <a:ea typeface="Source Han Sans SC"/>
                        </a:rPr>
                        <a:t>Retrieved</a:t>
                      </a:r>
                    </a:p>
                  </a:txBody>
                  <a:tcPr>
                    <a:solidFill>
                      <a:srgbClr val="563F7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示例智能制造2025年年度报告（虚构测试文件）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示例智能制造股份有限公司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2026-04-20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SRC-002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 market data provider — daily close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MockData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《智能制造装备产业发展指导意见》（虚构政策文件）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示例部委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2026-03-01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SRC-004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 industry outlook: factory automation 2026-2030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Example Research Institute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2026-05-15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EDE8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SRC-005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Mock comparable-company dataset (fictional peers)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Example Research Institute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5232A"/>
                          </a:solidFill>
                          <a:latin typeface="Calibri"/>
                          <a:ea typeface="Source Han Sans SC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99688"/>
            <a:ext cx="10911535" cy="5608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r>
              <a:rPr sz="1000" b="0">
                <a:solidFill>
                  <a:srgbClr val="6E6879"/>
                </a:solidFill>
                <a:latin typeface="Calibri"/>
                <a:ea typeface="Source Han Sans SC"/>
              </a:rPr>
              <a:t>Produced by the Jacaranda Stock Market Society using public information and an AI-assisted workflow, for educational and research purposes only; not investment advice. Data as of 10 July 2026. This sample uses fictional company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