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智能装备</c:v>
                </c:pt>
              </c:strCache>
            </c:strRef>
          </c:tx>
          <c:spPr>
            <a:solidFill>
              <a:srgbClr val="563F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23.3</c:v>
                </c:pt>
                <c:pt idx="1">
                  <c:v>27.1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自动化部件</c:v>
                </c:pt>
              </c:strCache>
            </c:strRef>
          </c:tx>
          <c:spPr>
            <a:solidFill>
              <a:srgbClr val="B7A3CB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10.5</c:v>
                </c:pt>
                <c:pt idx="1">
                  <c:v>13.6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服务</c:v>
                </c:pt>
              </c:strCache>
            </c:strRef>
          </c:tx>
          <c:spPr>
            <a:solidFill>
              <a:srgbClr val="34234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3.8</c:v>
                </c:pt>
                <c:pt idx="1">
                  <c:v>4.5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4DF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6E687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</c:v>
                </c:pt>
              </c:strCache>
            </c:strRef>
          </c:tx>
          <c:spPr>
            <a:ln w="28575">
              <a:solidFill>
                <a:srgbClr val="563F7C"/>
              </a:solidFill>
            </a:ln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28.9</c:v>
                </c:pt>
                <c:pt idx="1">
                  <c:v>32.6</c:v>
                </c:pt>
                <c:pt idx="2">
                  <c:v>37.6</c:v>
                </c:pt>
                <c:pt idx="3">
                  <c:v>45.2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归母净利润</c:v>
                </c:pt>
              </c:strCache>
            </c:strRef>
          </c:tx>
          <c:spPr>
            <a:ln w="28575">
              <a:solidFill>
                <a:srgbClr val="B7A3CB"/>
              </a:solidFill>
            </a:ln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</c:v>
                </c:pt>
                <c:pt idx="1">
                  <c:v>3.4</c:v>
                </c:pt>
                <c:pt idx="2">
                  <c:v>4.1</c:v>
                </c:pt>
                <c:pt idx="3">
                  <c:v>5.12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DF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6E687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2025收入</c:v>
                </c:pt>
                <c:pt idx="1">
                  <c:v>销量</c:v>
                </c:pt>
                <c:pt idx="2">
                  <c:v>价格</c:v>
                </c:pt>
                <c:pt idx="3">
                  <c:v>流失</c:v>
                </c:pt>
                <c:pt idx="4">
                  <c:v>2026E收入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45.2</c:v>
                </c:pt>
                <c:pt idx="2">
                  <c:v>49.7</c:v>
                </c:pt>
                <c:pt idx="3">
                  <c:v>50.3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总额/Total</c:v>
                </c:pt>
              </c:strCache>
            </c:strRef>
          </c:tx>
          <c:spPr>
            <a:solidFill>
              <a:srgbClr val="563F7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2025收入</c:v>
                </c:pt>
                <c:pt idx="1">
                  <c:v>销量</c:v>
                </c:pt>
                <c:pt idx="2">
                  <c:v>价格</c:v>
                </c:pt>
                <c:pt idx="3">
                  <c:v>流失</c:v>
                </c:pt>
                <c:pt idx="4">
                  <c:v>2026E收入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45.2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50.3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增加/Increase</c:v>
                </c:pt>
              </c:strCache>
            </c:strRef>
          </c:tx>
          <c:spPr>
            <a:solidFill>
              <a:srgbClr val="1E7F4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2025收入</c:v>
                </c:pt>
                <c:pt idx="1">
                  <c:v>销量</c:v>
                </c:pt>
                <c:pt idx="2">
                  <c:v>价格</c:v>
                </c:pt>
                <c:pt idx="3">
                  <c:v>流失</c:v>
                </c:pt>
                <c:pt idx="4">
                  <c:v>2026E收入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</c:v>
                </c:pt>
                <c:pt idx="1">
                  <c:v>4.5</c:v>
                </c:pt>
                <c:pt idx="2">
                  <c:v>1.8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减少/Decrease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solidFill>
                      <a:srgbClr val="25232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2025收入</c:v>
                </c:pt>
                <c:pt idx="1">
                  <c:v>销量</c:v>
                </c:pt>
                <c:pt idx="2">
                  <c:v>价格</c:v>
                </c:pt>
                <c:pt idx="3">
                  <c:v>流失</c:v>
                </c:pt>
                <c:pt idx="4">
                  <c:v>2026E收入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1.2</c:v>
                </c:pt>
                <c:pt idx="4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4DF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现金流折现</c:v>
                </c:pt>
                <c:pt idx="1">
                  <c:v>可比公司PE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29.5</c:v>
                </c:pt>
                <c:pt idx="1">
                  <c:v>27.0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563F7C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solidFill>
                      <a:srgbClr val="25232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现金流折现</c:v>
                </c:pt>
                <c:pt idx="1">
                  <c:v>可比公司PE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8.5</c:v>
                </c:pt>
                <c:pt idx="1">
                  <c:v>8.5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"/>
          <c:min val="24.0"/>
        </c:scaling>
        <c:delete val="0"/>
        <c:axPos val="b"/>
        <c:majorGridlines>
          <c:spPr>
            <a:ln w="6350">
              <a:solidFill>
                <a:srgbClr val="E4DF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53666" y="502920"/>
            <a:ext cx="2484362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s6dq_t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706" y="822960"/>
            <a:ext cx="1841269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3657600"/>
            <a:ext cx="9997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Georgia"/>
                <a:ea typeface="Source Han Serif SC"/>
              </a:rPr>
              <a:t>示例智能制造（600XXX）研究报告</a:t>
            </a:r>
          </a:p>
          <a:p>
            <a:pPr algn="ctr"/>
            <a:r>
              <a:rPr sz="1600" b="0">
                <a:solidFill>
                  <a:srgbClr val="B7A3CB"/>
                </a:solidFill>
                <a:latin typeface="Calibri"/>
                <a:ea typeface="Source Han Sans SC"/>
              </a:rPr>
              <a:t>国产替代进程中的自动化设备供应商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  <a:ea typeface="Source Han Sans SC"/>
              </a:rPr>
              <a:t>示例智能制造股份有限公司 · 600XXX · 虚构示例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Source Han Sans SC"/>
              </a:rPr>
              <a:t>评级：增持 · 目标价：34.00元</a:t>
            </a:r>
          </a:p>
          <a:p>
            <a:pPr algn="ctr"/>
            <a:r>
              <a:rPr sz="1000" b="0">
                <a:solidFill>
                  <a:srgbClr val="B7A3CB"/>
                </a:solidFill>
                <a:latin typeface="Calibri"/>
                <a:ea typeface="Source Han Sans SC"/>
              </a:rPr>
              <a:t>2026年7月17日   ·   中文完整版   ·   Jacaranda Stock Market Society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投资摘要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2 页   ·   数据截至 2026-07-10   ·   来源 SRC-001, SRC-002, SRC-004   ·   仅供学习研究，不构成投资建议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营业收入（亿元）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45.2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2025财年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9111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收入增速</a:t>
            </a:r>
          </a:p>
          <a:p>
            <a:pPr algn="l"/>
            <a:r>
              <a:rPr sz="2400" b="1">
                <a:solidFill>
                  <a:srgbClr val="1E7F4F"/>
                </a:solidFill>
                <a:latin typeface="Calibri"/>
                <a:ea typeface="Source Han Sans SC"/>
              </a:rPr>
              <a:t>20.2%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2025财年，同比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2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现价（元）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28.40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2026-07-10收盘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7173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目标价（元）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34.00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基准情景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11535" cy="93954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政策支持叠加收入高增长，公司有望继续扩大国内市场份额。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[推断]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我们认为公司是国产替代的主要受益者之一，给予“增持”评级。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[观点]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反方观点：若下游资本开支放缓，增速可能明显低于预测。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[推断]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公司概览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3 页   ·   数据截至 2026-07-10   ·   来源 SRC-001   ·   仅供学习研究，不构成投资建议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营业收入（亿元）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45.2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2025财年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9111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归母净利润（亿元）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5.1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2025财年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2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净利率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11.3%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2025财年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7173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最大分部收入（亿元）</a:t>
            </a:r>
          </a:p>
          <a:p>
            <a:pPr algn="l"/>
            <a:r>
              <a:rPr sz="2400" b="1">
                <a:solidFill>
                  <a:srgbClr val="34234F"/>
                </a:solidFill>
                <a:latin typeface="Calibri"/>
                <a:ea typeface="Source Han Sans SC"/>
              </a:rPr>
              <a:t>27.1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智能装备，2025财年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11535" cy="69951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收入与利润均实现两位数增长，收入创历史新高。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[事实]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公司位于产业链中游的自动化设备制造环节。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[事实]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公司沿革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4 页   ·   数据截至 2026-07-10   ·   来源 SRC-001   ·   仅供学习研究，不构成投资建议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0911535" cy="18288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591056"/>
            <a:ext cx="128016" cy="128016"/>
          </a:xfrm>
          <a:prstGeom prst="ellipse">
            <a:avLst/>
          </a:prstGeom>
          <a:solidFill>
            <a:srgbClr val="34234F"/>
          </a:solidFill>
          <a:ln w="9525">
            <a:solidFill>
              <a:srgbClr val="342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2636443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1">
                <a:solidFill>
                  <a:srgbClr val="563F7C"/>
                </a:solidFill>
                <a:latin typeface="Calibri"/>
                <a:ea typeface="Source Han Sans SC"/>
              </a:rPr>
              <a:t>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2636443" cy="1371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1">
                <a:solidFill>
                  <a:srgbClr val="34234F"/>
                </a:solidFill>
                <a:latin typeface="Calibri"/>
                <a:ea typeface="Source Han Sans SC"/>
              </a:rPr>
              <a:t>公司成立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聚焦工业自动化设备</a:t>
            </a:r>
          </a:p>
        </p:txBody>
      </p:sp>
      <p:sp>
        <p:nvSpPr>
          <p:cNvPr id="11" name="Oval 10"/>
          <p:cNvSpPr/>
          <p:nvPr/>
        </p:nvSpPr>
        <p:spPr>
          <a:xfrm>
            <a:off x="3459403" y="1591056"/>
            <a:ext cx="128016" cy="128016"/>
          </a:xfrm>
          <a:prstGeom prst="ellipse">
            <a:avLst/>
          </a:prstGeom>
          <a:solidFill>
            <a:srgbClr val="34234F"/>
          </a:solidFill>
          <a:ln w="9525">
            <a:solidFill>
              <a:srgbClr val="342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6523" y="1143000"/>
            <a:ext cx="2636443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1">
                <a:solidFill>
                  <a:srgbClr val="563F7C"/>
                </a:solidFill>
                <a:latin typeface="Calibri"/>
                <a:ea typeface="Source Han Sans SC"/>
              </a:rPr>
              <a:t>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523" y="1810512"/>
            <a:ext cx="2636443" cy="1371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1">
                <a:solidFill>
                  <a:srgbClr val="34234F"/>
                </a:solidFill>
                <a:latin typeface="Calibri"/>
                <a:ea typeface="Source Han Sans SC"/>
              </a:rPr>
              <a:t>上市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登陆虚构交易所</a:t>
            </a:r>
          </a:p>
        </p:txBody>
      </p:sp>
      <p:sp>
        <p:nvSpPr>
          <p:cNvPr id="14" name="Oval 13"/>
          <p:cNvSpPr/>
          <p:nvPr/>
        </p:nvSpPr>
        <p:spPr>
          <a:xfrm>
            <a:off x="6187286" y="1591056"/>
            <a:ext cx="128016" cy="128016"/>
          </a:xfrm>
          <a:prstGeom prst="ellipse">
            <a:avLst/>
          </a:prstGeom>
          <a:solidFill>
            <a:srgbClr val="34234F"/>
          </a:solidFill>
          <a:ln w="9525">
            <a:solidFill>
              <a:srgbClr val="342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4406" y="1143000"/>
            <a:ext cx="2636443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1">
                <a:solidFill>
                  <a:srgbClr val="563F7C"/>
                </a:solidFill>
                <a:latin typeface="Calibri"/>
                <a:ea typeface="Source Han Sans SC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4406" y="1810512"/>
            <a:ext cx="2636443" cy="1371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1">
                <a:solidFill>
                  <a:srgbClr val="34234F"/>
                </a:solidFill>
                <a:latin typeface="Calibri"/>
                <a:ea typeface="Source Han Sans SC"/>
              </a:rPr>
              <a:t>海外基地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设立海外制造基地</a:t>
            </a:r>
          </a:p>
        </p:txBody>
      </p:sp>
      <p:sp>
        <p:nvSpPr>
          <p:cNvPr id="17" name="Oval 16"/>
          <p:cNvSpPr/>
          <p:nvPr/>
        </p:nvSpPr>
        <p:spPr>
          <a:xfrm>
            <a:off x="8915169" y="1591056"/>
            <a:ext cx="128016" cy="128016"/>
          </a:xfrm>
          <a:prstGeom prst="ellipse">
            <a:avLst/>
          </a:prstGeom>
          <a:solidFill>
            <a:srgbClr val="B7A3CB"/>
          </a:solidFill>
          <a:ln w="9525">
            <a:solidFill>
              <a:srgbClr val="342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289" y="1143000"/>
            <a:ext cx="2636443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1">
                <a:solidFill>
                  <a:srgbClr val="563F7C"/>
                </a:solidFill>
                <a:latin typeface="Calibri"/>
                <a:ea typeface="Source Han Sans SC"/>
              </a:rPr>
              <a:t>2026-11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289" y="1810512"/>
            <a:ext cx="2636443" cy="1371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1">
                <a:solidFill>
                  <a:srgbClr val="34234F"/>
                </a:solidFill>
                <a:latin typeface="Calibri"/>
                <a:ea typeface="Source Han Sans SC"/>
              </a:rPr>
              <a:t>新控制系统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计划发布新一代控制系统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产业链定位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5 页   ·   数据截至 2026-07-10   ·   来源 SRC-001, SRC-003   ·   仅供学习研究，不构成投资建议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1143000"/>
            <a:ext cx="3466490" cy="1417320"/>
          </a:xfrm>
          <a:prstGeom prst="chevron">
            <a:avLst>
              <a:gd name="adj" fmla="val 18000"/>
            </a:avLst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上游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核心零部件与材料</a:t>
            </a:r>
          </a:p>
        </p:txBody>
      </p:sp>
      <p:sp>
        <p:nvSpPr>
          <p:cNvPr id="8" name="Chevron 7"/>
          <p:cNvSpPr/>
          <p:nvPr/>
        </p:nvSpPr>
        <p:spPr>
          <a:xfrm>
            <a:off x="4362602" y="1143000"/>
            <a:ext cx="3466490" cy="1417320"/>
          </a:xfrm>
          <a:prstGeom prst="chevron">
            <a:avLst>
              <a:gd name="adj" fmla="val 18000"/>
            </a:avLst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Source Han Sans SC"/>
              </a:rPr>
              <a:t>中游（公司）</a:t>
            </a:r>
          </a:p>
          <a:p>
            <a:r>
              <a:rPr sz="1000" b="0">
                <a:solidFill>
                  <a:srgbClr val="FFFFFF"/>
                </a:solidFill>
                <a:latin typeface="Calibri"/>
                <a:ea typeface="Source Han Sans SC"/>
              </a:rPr>
              <a:t>自动化设备制造</a:t>
            </a:r>
          </a:p>
        </p:txBody>
      </p:sp>
      <p:sp>
        <p:nvSpPr>
          <p:cNvPr id="9" name="Chevron 8"/>
          <p:cNvSpPr/>
          <p:nvPr/>
        </p:nvSpPr>
        <p:spPr>
          <a:xfrm>
            <a:off x="8085124" y="1143000"/>
            <a:ext cx="3466490" cy="1417320"/>
          </a:xfrm>
          <a:prstGeom prst="chevron">
            <a:avLst>
              <a:gd name="adj" fmla="val 18000"/>
            </a:avLst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下游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制造业客户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0911535" cy="69951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产业指导意见支持智能制造装备国产替代。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[事实]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政策若落地执行，有望改善公司所处中游环节的订单环境。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[推断]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业务分部结构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6 页   ·   数据截至 2026-07-10   ·   来源 SRC-001   ·   仅供学习研究，不构成投资建议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10911535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86200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分部收入（2024-2025财年） · 单位：亿元人民币 · 来源 SRC-001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11535" cy="45948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智能装备是最大收入分部，服务收入占比仍然较低。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[事实]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竞争格局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7 页   ·   数据截至 2026-07-10   ·   来源 SRC-005   ·   仅供学习研究，不构成投资建议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1525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A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/>
            <a:r>
              <a:rPr sz="1400" b="1">
                <a:solidFill>
                  <a:srgbClr val="563F7C"/>
                </a:solidFill>
                <a:latin typeface="Georgia"/>
                <a:ea typeface="Source Han Serif SC"/>
              </a:rPr>
              <a:t>公司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PE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18.2x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收入增速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20.2%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5232A"/>
                </a:solidFill>
                <a:latin typeface="Calibri"/>
                <a:ea typeface="Source Han Sans SC"/>
              </a:rPr>
              <a:t>・ 增长快于同业，双位数收入增速。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143000"/>
            <a:ext cx="351525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A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/>
            <a:r>
              <a:rPr sz="1400" b="1">
                <a:solidFill>
                  <a:srgbClr val="563F7C"/>
                </a:solidFill>
                <a:latin typeface="Georgia"/>
                <a:ea typeface="Source Han Serif SC"/>
              </a:rPr>
              <a:t>同业A（虚构）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PE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22.5x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收入增速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12.5%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5232A"/>
                </a:solidFill>
                <a:latin typeface="Calibri"/>
                <a:ea typeface="Source Han Sans SC"/>
              </a:rPr>
              <a:t>・ 估值溢价较高。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143000"/>
            <a:ext cx="351525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A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/>
            <a:r>
              <a:rPr sz="1400" b="1">
                <a:solidFill>
                  <a:srgbClr val="563F7C"/>
                </a:solidFill>
                <a:latin typeface="Georgia"/>
                <a:ea typeface="Source Han Serif SC"/>
              </a:rPr>
              <a:t>同业B（虚构）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PE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15.8x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收入增速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8.9%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5232A"/>
                </a:solidFill>
                <a:latin typeface="Calibri"/>
                <a:ea typeface="Source Han Sans SC"/>
              </a:rPr>
              <a:t>・ 增速与估值均低于公司。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历史财务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8 页   ·   数据截至 2026-07-10   ·   来源 SRC-001   ·   仅供学习研究，不构成投资建议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91153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8768"/>
                <a:gridCol w="2073191"/>
                <a:gridCol w="2073191"/>
                <a:gridCol w="2073191"/>
                <a:gridCol w="207319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指标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FY2022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FY2023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FY2024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FY2025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营业收入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32.6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37.6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45.2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归母净利润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2.8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3.4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4.1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5.1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收入同比增速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暂无数据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暂无数据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暂无数据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7F4F"/>
                          </a:solidFill>
                          <a:latin typeface="Calibri"/>
                          <a:ea typeface="Source Han Sans SC"/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净利率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暂无数据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暂无数据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暂无数据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11.3%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42616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单位：亿元人民币 · 来源 SRC-001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收入与利润趋势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9 页   ·   数据截至 2026-07-10   ·   来源 SRC-001   ·   仅供学习研究，不构成投资建议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10911535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86200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营业收入与归母净利润（2022-2025财年） · 单位：亿元人民币 · 来源 SRC-001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11535" cy="45948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收入与利润均保持逐年增长，增速在2025财年有所加快。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[事实]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预测收入桥（2026财年）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10 页   ·   数据截至 2026-07-10   ·   来源 SRC-001   ·   仅供学习研究，不构成投资建议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10911535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86200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2026财年预测收入桥 · 单位：亿元人民币 · 紫=总额 绿=增加 红=减少 · 来源 SRC-001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11535" cy="45948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销量扩张是预测增长的主要驱动，价格贡献为正但幅度有限。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[推断]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可比公司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11 页   ·   数据截至 2026-07-10   ·   来源 SRC-005   ·   仅供学习研究，不构成投资建议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911533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8768"/>
                <a:gridCol w="2764255"/>
                <a:gridCol w="2764255"/>
                <a:gridCol w="2764255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指标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公司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同业A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同业B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PE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18.2x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22.5x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15.8x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PS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2.1x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2.8x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1.6x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收入增速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350008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倍数为虚构数据 · 来源 SRC-005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24328"/>
            <a:ext cx="10911535" cy="45948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・ 公司估值低于同业A、高于同业B，增速溢价尚未完全反映。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[推断]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估值区间与目标价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12 页   ·   数据截至 2026-07-10   ·   来源 SRC-001, SRC-005   ·   仅供学习研究，不构成投资建议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6765151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79551" y="1143000"/>
            <a:ext cx="3872064" cy="31089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0">
                <a:solidFill>
                  <a:srgbClr val="6E6879"/>
                </a:solidFill>
                <a:latin typeface="Calibri"/>
                <a:ea typeface="Source Han Sans SC"/>
              </a:rPr>
              <a:t>现价  </a:t>
            </a:r>
            <a:r>
              <a:rPr sz="1600" b="1">
                <a:solidFill>
                  <a:srgbClr val="34234F"/>
                </a:solidFill>
                <a:latin typeface="Calibri"/>
                <a:ea typeface="Source Han Sans SC"/>
              </a:rPr>
              <a:t>28.40</a:t>
            </a:r>
          </a:p>
          <a:p>
            <a:r>
              <a:rPr sz="1100" b="0">
                <a:solidFill>
                  <a:srgbClr val="6E6879"/>
                </a:solidFill>
                <a:latin typeface="Calibri"/>
                <a:ea typeface="Source Han Sans SC"/>
              </a:rPr>
              <a:t>目标价  </a:t>
            </a:r>
            <a:r>
              <a:rPr sz="1600" b="1">
                <a:solidFill>
                  <a:srgbClr val="563F7C"/>
                </a:solidFill>
                <a:latin typeface="Calibri"/>
                <a:ea typeface="Source Han Sans SC"/>
              </a:rPr>
              <a:t>34.00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・ WACC取9.5%，反映板块股权成本与公司低杠杆。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・ 基准情景：2026-2028年收入复合增速15%。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70248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估值区间 · 来源 SRC-001, SRC-005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催化剂与风险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13 页   ·   数据截至 2026-07-10   ·   来源 SRC-001, SRC-003, SRC-004   ·   仅供学习研究，不构成投资建议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69190" cy="40233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500" b="1">
                <a:solidFill>
                  <a:srgbClr val="1E7F4F"/>
                </a:solidFill>
                <a:latin typeface="Georgia"/>
                <a:ea typeface="Source Han Serif SC"/>
              </a:rPr>
              <a:t>催化剂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・ 新一代控制系统发布</a:t>
            </a:r>
            <a:r>
              <a:rPr sz="900" b="1">
                <a:solidFill>
                  <a:srgbClr val="1E7F4F"/>
                </a:solidFill>
                <a:latin typeface="Calibri"/>
                <a:ea typeface="Source Han Sans SC"/>
              </a:rPr>
              <a:t>  [3-12m]</a:t>
            </a:r>
          </a:p>
          <a:p>
            <a:r>
              <a:rPr sz="1050" b="0">
                <a:solidFill>
                  <a:srgbClr val="25232A"/>
                </a:solidFill>
                <a:latin typeface="Calibri"/>
                <a:ea typeface="Source Han Sans SC"/>
              </a:rPr>
              <a:t>   预计四季度发布，如期落地有望带来新订单。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5030" y="1143000"/>
            <a:ext cx="3269190" cy="40233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500" b="1">
                <a:solidFill>
                  <a:srgbClr val="C0392B"/>
                </a:solidFill>
                <a:latin typeface="Georgia"/>
                <a:ea typeface="Source Han Serif SC"/>
              </a:rPr>
              <a:t>风险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・ 下游资本开支放缓</a:t>
            </a:r>
            <a:r>
              <a:rPr sz="900" b="1">
                <a:solidFill>
                  <a:srgbClr val="C0392B"/>
                </a:solidFill>
                <a:latin typeface="Calibri"/>
                <a:ea typeface="Source Han Sans SC"/>
              </a:rPr>
              <a:t>  [严重性高·概率中]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・ 价格竞争压缩毛利率</a:t>
            </a:r>
            <a:r>
              <a:rPr sz="900" b="1">
                <a:solidFill>
                  <a:srgbClr val="C0392B"/>
                </a:solidFill>
                <a:latin typeface="Calibri"/>
                <a:ea typeface="Source Han Sans SC"/>
              </a:rPr>
              <a:t>  [严重性中·概率高]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・ 产业政策变化</a:t>
            </a:r>
            <a:r>
              <a:rPr sz="900" b="1">
                <a:solidFill>
                  <a:srgbClr val="C0392B"/>
                </a:solidFill>
                <a:latin typeface="Calibri"/>
                <a:ea typeface="Source Han Sans SC"/>
              </a:rPr>
              <a:t>  [严重性中·概率低]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・ 客户集中度较高</a:t>
            </a:r>
            <a:r>
              <a:rPr sz="900" b="1">
                <a:solidFill>
                  <a:srgbClr val="C0392B"/>
                </a:solidFill>
                <a:latin typeface="Calibri"/>
                <a:ea typeface="Source Han Sans SC"/>
              </a:rPr>
              <a:t>  [严重性中·概率中]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980" y="1527048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23858" y="1527048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37736" y="1527048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980" y="2740926"/>
            <a:ext cx="1186446" cy="1186446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23858" y="2740926"/>
            <a:ext cx="1186446" cy="1186446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37736" y="2740926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980" y="3954804"/>
            <a:ext cx="1186446" cy="1186446"/>
          </a:xfrm>
          <a:prstGeom prst="rect">
            <a:avLst/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3858" y="3954804"/>
            <a:ext cx="1186446" cy="1186446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37736" y="3954804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11925" y="2015115"/>
            <a:ext cx="237744" cy="237744"/>
          </a:xfrm>
          <a:prstGeom prst="ellipse">
            <a:avLst/>
          </a:prstGeom>
          <a:solidFill>
            <a:srgbClr val="3423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Source Han Sans SC"/>
              </a:rPr>
              <a:t>R1</a:t>
            </a:r>
          </a:p>
        </p:txBody>
      </p:sp>
      <p:sp>
        <p:nvSpPr>
          <p:cNvPr id="19" name="Oval 18"/>
          <p:cNvSpPr/>
          <p:nvPr/>
        </p:nvSpPr>
        <p:spPr>
          <a:xfrm>
            <a:off x="10825803" y="3228993"/>
            <a:ext cx="237744" cy="237744"/>
          </a:xfrm>
          <a:prstGeom prst="ellipse">
            <a:avLst/>
          </a:prstGeom>
          <a:solidFill>
            <a:srgbClr val="3423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Source Han Sans SC"/>
              </a:rPr>
              <a:t>R2</a:t>
            </a:r>
          </a:p>
        </p:txBody>
      </p:sp>
      <p:sp>
        <p:nvSpPr>
          <p:cNvPr id="20" name="Oval 19"/>
          <p:cNvSpPr/>
          <p:nvPr/>
        </p:nvSpPr>
        <p:spPr>
          <a:xfrm>
            <a:off x="8398047" y="3228993"/>
            <a:ext cx="237744" cy="237744"/>
          </a:xfrm>
          <a:prstGeom prst="ellipse">
            <a:avLst/>
          </a:prstGeom>
          <a:solidFill>
            <a:srgbClr val="3423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Source Han Sans SC"/>
              </a:rPr>
              <a:t>R3</a:t>
            </a:r>
          </a:p>
        </p:txBody>
      </p:sp>
      <p:sp>
        <p:nvSpPr>
          <p:cNvPr id="21" name="Oval 20"/>
          <p:cNvSpPr/>
          <p:nvPr/>
        </p:nvSpPr>
        <p:spPr>
          <a:xfrm>
            <a:off x="9611925" y="3228993"/>
            <a:ext cx="237744" cy="237744"/>
          </a:xfrm>
          <a:prstGeom prst="ellipse">
            <a:avLst/>
          </a:prstGeom>
          <a:solidFill>
            <a:srgbClr val="3423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Source Han Sans SC"/>
              </a:rPr>
              <a:t>R4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980" y="5196114"/>
            <a:ext cx="3641634" cy="228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可能性 →（纵轴：严重性 ↑）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234F"/>
                </a:solidFill>
                <a:latin typeface="Georgia"/>
                <a:ea typeface="Source Han Serif SC"/>
              </a:rPr>
              <a:t>结论、来源与免责声明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zfi4c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第 14 页   ·   数据截至 2026-07-10   ·   来源 SRC-001, SRC-002, SRC-003, SRC-004, SRC-005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10911535" cy="496062"/>
          </a:xfrm>
          <a:prstGeom prst="roundRect">
            <a:avLst>
              <a:gd name="adj" fmla="val 5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400" b="1">
                <a:solidFill>
                  <a:srgbClr val="34234F"/>
                </a:solidFill>
                <a:latin typeface="Calibri"/>
                <a:ea typeface="Source Han Sans SC"/>
              </a:rPr>
              <a:t>我们给予“增持”评级，目标价34.00元。反方证据：行业产能扩张较快，若下游资本开支放缓，公司增速可能明显低于预测。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67078"/>
          <a:ext cx="10911532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1153"/>
                <a:gridCol w="4582844"/>
                <a:gridCol w="2400537"/>
                <a:gridCol w="1418499"/>
                <a:gridCol w="1418499"/>
              </a:tblGrid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编号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标题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发布方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发布日期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获取日期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示例智能制造2025年年度报告（虚构测试文件）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示例智能制造股份有限公司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2026-04-20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SRC-002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Mock market data provider — daily close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MockData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《智能制造装备产业发展指导意见》（虚构政策文件）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示例部委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2026-03-01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SRC-004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Mock industry outlook: factory automation 2026-2030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Example Research Institute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2026-05-15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Mock comparable-company dataset (fictional peers)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Example Research Institute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2026-06-30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412998"/>
            <a:ext cx="10911535" cy="42748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本报告由蓝楹会基于公开信息与AI辅助流程生成，仅供学习与研究用途，不构成任何投资建议。数据截至2026年7月10日。本样例使用虚构公司数据。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